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E02547-2FEF-48E0-87C0-8A368A1F9568}" v="183" dt="2026-05-11T17:59:57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88" d="100"/>
          <a:sy n="88" d="100"/>
        </p:scale>
        <p:origin x="33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53000"/>
            <a:ext cx="5667375" cy="1343025"/>
          </a:xfrm>
          <a:custGeom>
            <a:avLst/>
            <a:gdLst/>
            <a:ahLst/>
            <a:cxnLst/>
            <a:rect l="l" t="t" r="r" b="b"/>
            <a:pathLst>
              <a:path w="5667375" h="1343025">
                <a:moveTo>
                  <a:pt x="5667375" y="0"/>
                </a:moveTo>
                <a:lnTo>
                  <a:pt x="0" y="0"/>
                </a:lnTo>
                <a:lnTo>
                  <a:pt x="0" y="1343025"/>
                </a:lnTo>
                <a:lnTo>
                  <a:pt x="5667375" y="1343025"/>
                </a:lnTo>
                <a:lnTo>
                  <a:pt x="5667375" y="0"/>
                </a:lnTo>
                <a:close/>
              </a:path>
            </a:pathLst>
          </a:custGeom>
          <a:solidFill>
            <a:srgbClr val="0E9ED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42836"/>
            <a:ext cx="6415151" cy="636752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85800" y="371475"/>
            <a:ext cx="6115050" cy="6067425"/>
          </a:xfrm>
          <a:custGeom>
            <a:avLst/>
            <a:gdLst/>
            <a:ahLst/>
            <a:cxnLst/>
            <a:rect l="l" t="t" r="r" b="b"/>
            <a:pathLst>
              <a:path w="6115050" h="6067425">
                <a:moveTo>
                  <a:pt x="6115050" y="0"/>
                </a:moveTo>
                <a:lnTo>
                  <a:pt x="0" y="0"/>
                </a:lnTo>
                <a:lnTo>
                  <a:pt x="0" y="6067425"/>
                </a:lnTo>
                <a:lnTo>
                  <a:pt x="6115050" y="6067425"/>
                </a:lnTo>
                <a:lnTo>
                  <a:pt x="61150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975" y="628650"/>
            <a:ext cx="5610225" cy="5600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020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96241" y="1020268"/>
            <a:ext cx="4197350" cy="45788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720"/>
              </a:lnSpc>
              <a:spcBef>
                <a:spcPts val="105"/>
              </a:spcBef>
            </a:pPr>
            <a:r>
              <a:rPr sz="2400" b="1" spc="-114" dirty="0" err="1">
                <a:latin typeface="Trebuchet MS"/>
                <a:cs typeface="Trebuchet MS"/>
              </a:rPr>
              <a:t>Преподавател</a:t>
            </a:r>
            <a:r>
              <a:rPr lang="ru-RU" sz="2400" b="1" spc="-114" dirty="0">
                <a:latin typeface="Trebuchet MS"/>
                <a:cs typeface="Trebuchet MS"/>
              </a:rPr>
              <a:t>ь</a:t>
            </a:r>
            <a:r>
              <a:rPr sz="2400" b="1" spc="-114" dirty="0">
                <a:latin typeface="Trebuchet MS"/>
                <a:cs typeface="Trebuchet MS"/>
              </a:rPr>
              <a:t>:</a:t>
            </a:r>
            <a:r>
              <a:rPr lang="ru-RU" sz="2400" b="1" spc="-114" dirty="0">
                <a:latin typeface="Trebuchet MS"/>
                <a:cs typeface="Trebuchet MS"/>
              </a:rPr>
              <a:t> </a:t>
            </a:r>
            <a:r>
              <a:rPr lang="ru-RU" sz="24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Халилов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Матлаб</a:t>
            </a:r>
            <a:r>
              <a:rPr lang="ru-RU" sz="24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 , Алиев Джамиль</a:t>
            </a:r>
            <a:r>
              <a:rPr sz="2400" spc="-175" dirty="0">
                <a:latin typeface="Trebuchet MS" panose="020B0603020202020204" pitchFamily="34" charset="0"/>
                <a:cs typeface="Trebuchet MS"/>
              </a:rPr>
              <a:t> </a:t>
            </a:r>
            <a:endParaRPr lang="ru-RU" sz="2400" spc="-175" dirty="0">
              <a:latin typeface="Trebuchet MS" panose="020B0603020202020204" pitchFamily="34" charset="0"/>
              <a:cs typeface="Trebuchet MS"/>
            </a:endParaRPr>
          </a:p>
          <a:p>
            <a:pPr marL="12700">
              <a:lnSpc>
                <a:spcPts val="2720"/>
              </a:lnSpc>
              <a:spcBef>
                <a:spcPts val="105"/>
              </a:spcBef>
            </a:pPr>
            <a:endParaRPr lang="ru-RU" sz="2400" spc="-175" dirty="0">
              <a:latin typeface="Trebuchet MS" panose="020B0603020202020204" pitchFamily="34" charset="0"/>
              <a:cs typeface="Trebuchet MS"/>
            </a:endParaRPr>
          </a:p>
          <a:p>
            <a:pPr marL="12700">
              <a:lnSpc>
                <a:spcPts val="2720"/>
              </a:lnSpc>
              <a:spcBef>
                <a:spcPts val="105"/>
              </a:spcBef>
            </a:pPr>
            <a:r>
              <a:rPr sz="2400" b="1" spc="-125" dirty="0" err="1">
                <a:latin typeface="Trebuchet MS"/>
                <a:cs typeface="Trebuchet MS"/>
              </a:rPr>
              <a:t>Студент</a:t>
            </a:r>
            <a:r>
              <a:rPr lang="ru-RU" sz="2400" b="1" spc="-125" dirty="0">
                <a:latin typeface="Trebuchet MS"/>
                <a:cs typeface="Trebuchet MS"/>
              </a:rPr>
              <a:t>ка</a:t>
            </a:r>
            <a:r>
              <a:rPr sz="2400" b="1" spc="-125" dirty="0">
                <a:latin typeface="Trebuchet MS"/>
                <a:cs typeface="Trebuchet MS"/>
              </a:rPr>
              <a:t>:</a:t>
            </a:r>
            <a:r>
              <a:rPr sz="2400" b="1" spc="-215" dirty="0">
                <a:latin typeface="Trebuchet MS"/>
                <a:cs typeface="Trebuchet MS"/>
              </a:rPr>
              <a:t> </a:t>
            </a:r>
            <a:r>
              <a:rPr lang="ru-RU" sz="24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Сафарова Ханым</a:t>
            </a:r>
          </a:p>
          <a:p>
            <a:pPr marL="12700">
              <a:lnSpc>
                <a:spcPts val="2720"/>
              </a:lnSpc>
              <a:spcBef>
                <a:spcPts val="105"/>
              </a:spcBef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0">
              <a:lnSpc>
                <a:spcPts val="2720"/>
              </a:lnSpc>
              <a:spcBef>
                <a:spcPts val="105"/>
              </a:spcBef>
            </a:pPr>
            <a:r>
              <a:rPr sz="2400" b="1" spc="-175" dirty="0" err="1">
                <a:latin typeface="Trebuchet MS"/>
                <a:cs typeface="Trebuchet MS"/>
              </a:rPr>
              <a:t>Группа</a:t>
            </a:r>
            <a:r>
              <a:rPr sz="2400" b="1" spc="-175" dirty="0">
                <a:latin typeface="Trebuchet MS"/>
                <a:cs typeface="Trebuchet MS"/>
              </a:rPr>
              <a:t>:</a:t>
            </a:r>
            <a:r>
              <a:rPr sz="2400" b="1" spc="-22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680.23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400" b="1" spc="-140" dirty="0">
                <a:latin typeface="Trebuchet MS"/>
                <a:cs typeface="Trebuchet MS"/>
              </a:rPr>
              <a:t>Предмет:</a:t>
            </a:r>
            <a:r>
              <a:rPr sz="2400" b="1" spc="-210" dirty="0">
                <a:latin typeface="Trebuchet MS"/>
                <a:cs typeface="Trebuchet MS"/>
              </a:rPr>
              <a:t> </a:t>
            </a:r>
            <a:r>
              <a:rPr lang="ru-RU" sz="24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Веб-системы и технологии</a:t>
            </a:r>
            <a:endParaRPr lang="ru-RU" sz="2400" b="1" spc="-210" dirty="0">
              <a:latin typeface="Trebuchet MS" panose="020B0603020202020204" pitchFamily="34" charset="0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400" b="1" spc="-245" dirty="0" err="1">
                <a:latin typeface="Trebuchet MS"/>
                <a:cs typeface="Trebuchet MS"/>
              </a:rPr>
              <a:t>Тема</a:t>
            </a:r>
            <a:r>
              <a:rPr sz="2400" b="1" spc="-245" dirty="0">
                <a:latin typeface="Trebuchet MS"/>
                <a:cs typeface="Trebuchet MS"/>
              </a:rPr>
              <a:t>:</a:t>
            </a:r>
            <a:r>
              <a:rPr lang="ru-RU" sz="2400" b="1" spc="-245" dirty="0">
                <a:latin typeface="Trebuchet MS"/>
                <a:cs typeface="Trebuchet MS"/>
              </a:rPr>
              <a:t> </a:t>
            </a:r>
            <a:r>
              <a:rPr lang="ru-RU" sz="24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Разработка онлайн тестовой системы по математике</a:t>
            </a:r>
            <a:endParaRPr sz="2400" dirty="0">
              <a:latin typeface="Trebuchet MS" panose="020B0603020202020204" pitchFamily="34" charset="0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7FF48C-AF46-4D52-998F-ED0BDDEEF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9000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45E14-B2CA-4C8B-D2FA-4DDFA2EA6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72" y="233818"/>
            <a:ext cx="6037563" cy="2001381"/>
          </a:xfrm>
        </p:spPr>
        <p:txBody>
          <a:bodyPr>
            <a:normAutofit/>
          </a:bodyPr>
          <a:lstStyle/>
          <a:p>
            <a:r>
              <a:rPr lang="ru-RU" sz="4000" b="1">
                <a:ea typeface="+mj-lt"/>
                <a:cs typeface="+mj-lt"/>
              </a:rPr>
              <a:t>Цель и задачи проекта</a:t>
            </a:r>
            <a:endParaRPr lang="ru-RU" sz="4000" b="1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DF154B9-404E-C14A-5D68-C8EF1B796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6" y="2507251"/>
            <a:ext cx="5358634" cy="39312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Создание </a:t>
            </a:r>
            <a:r>
              <a:rPr lang="en-US" sz="2000" dirty="0" err="1">
                <a:ea typeface="+mn-lt"/>
                <a:cs typeface="+mn-lt"/>
              </a:rPr>
              <a:t>онлайн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тестовой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системы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по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математике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для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удобной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проверки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знаний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пользователей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Задачи</a:t>
            </a:r>
            <a:r>
              <a:rPr lang="en-US" sz="2000" dirty="0"/>
              <a:t> </a:t>
            </a:r>
            <a:r>
              <a:rPr lang="en-US" sz="2000" dirty="0" err="1"/>
              <a:t>проекта</a:t>
            </a:r>
            <a:endParaRPr lang="en-US" sz="2000" dirty="0"/>
          </a:p>
          <a:p>
            <a:r>
              <a:rPr lang="en-US" sz="2000" dirty="0" err="1">
                <a:ea typeface="+mn-lt"/>
                <a:cs typeface="+mn-lt"/>
              </a:rPr>
              <a:t>Изучение</a:t>
            </a:r>
            <a:r>
              <a:rPr lang="en-US" sz="2000" dirty="0">
                <a:ea typeface="+mn-lt"/>
                <a:cs typeface="+mn-lt"/>
              </a:rPr>
              <a:t> HTML, CSS и JavaScript 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Разработка </a:t>
            </a:r>
            <a:r>
              <a:rPr lang="en-US" sz="2000" dirty="0" err="1">
                <a:ea typeface="+mn-lt"/>
                <a:cs typeface="+mn-lt"/>
              </a:rPr>
              <a:t>структуры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сайта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Создание </a:t>
            </a:r>
            <a:r>
              <a:rPr lang="en-US" sz="2000" dirty="0" err="1">
                <a:ea typeface="+mn-lt"/>
                <a:cs typeface="+mn-lt"/>
              </a:rPr>
              <a:t>удобного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интерфейса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r>
              <a:rPr lang="en-US" sz="2000" dirty="0" err="1">
                <a:ea typeface="+mn-lt"/>
                <a:cs typeface="+mn-lt"/>
              </a:rPr>
              <a:t>Реализация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тестирования</a:t>
            </a:r>
            <a:r>
              <a:rPr lang="en-US" sz="2000" dirty="0">
                <a:ea typeface="+mn-lt"/>
                <a:cs typeface="+mn-lt"/>
              </a:rPr>
              <a:t> и </a:t>
            </a:r>
            <a:r>
              <a:rPr lang="en-US" sz="2000" dirty="0" err="1">
                <a:ea typeface="+mn-lt"/>
                <a:cs typeface="+mn-lt"/>
              </a:rPr>
              <a:t>проверки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ответов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r>
              <a:rPr lang="en-US" sz="2000" dirty="0" err="1">
                <a:ea typeface="+mn-lt"/>
                <a:cs typeface="+mn-lt"/>
              </a:rPr>
              <a:t>Создание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адаптивного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дизайна</a:t>
            </a:r>
            <a:endParaRPr lang="en-US" sz="2000" dirty="0" err="1"/>
          </a:p>
          <a:p>
            <a:endParaRPr lang="en-US" sz="2000" dirty="0"/>
          </a:p>
        </p:txBody>
      </p:sp>
      <p:pic>
        <p:nvPicPr>
          <p:cNvPr id="4" name="Объект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8FAADF4-6F39-0289-5D47-990260651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913" y="1213304"/>
            <a:ext cx="3740887" cy="206684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C62E525-C91E-B87C-3D44-BB3C8AA19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912" y="3601878"/>
            <a:ext cx="3740887" cy="201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45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861AF017-741B-4CC0-B7C2-C9B94E5B8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3">
            <a:extLst>
              <a:ext uri="{FF2B5EF4-FFF2-40B4-BE49-F238E27FC236}">
                <a16:creationId xmlns:a16="http://schemas.microsoft.com/office/drawing/2014/main" id="{D2A542E6-1924-4FE2-89D1-3CB19468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353183-2147-472B-AD7D-4A085FF6A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AA42C8-A082-4DFD-A5F3-FC9EF825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FC9E5C3-B8DC-4532-8C1F-4D5331C6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3863975" y="-12"/>
            <a:ext cx="8328026" cy="685799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5E3ED-E9A6-5251-0BA5-16A47D05A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8159" y="260680"/>
            <a:ext cx="5037007" cy="1677531"/>
          </a:xfrm>
        </p:spPr>
        <p:txBody>
          <a:bodyPr anchor="t">
            <a:noAutofit/>
          </a:bodyPr>
          <a:lstStyle/>
          <a:p>
            <a:r>
              <a:rPr lang="ru-RU" sz="4000" b="1">
                <a:ea typeface="+mj-lt"/>
                <a:cs typeface="+mj-lt"/>
              </a:rPr>
              <a:t>Используемые технологии</a:t>
            </a:r>
            <a:endParaRPr lang="ru-RU" sz="4000"/>
          </a:p>
        </p:txBody>
      </p:sp>
      <p:pic>
        <p:nvPicPr>
          <p:cNvPr id="4" name="Объект 3" descr="Изображение выглядит как текст, снимок экрана, программное обеспечение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F99B18-242A-2106-EE63-660BC0C79D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1" r="971" b="-2"/>
          <a:stretch>
            <a:fillRect/>
          </a:stretch>
        </p:blipFill>
        <p:spPr>
          <a:xfrm>
            <a:off x="550862" y="551479"/>
            <a:ext cx="5256213" cy="2790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2F1E4B65-ECC9-4E36-3DA4-BED66E027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8160" y="1944377"/>
            <a:ext cx="5016131" cy="466300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i="1" dirty="0"/>
              <a:t>HTML</a:t>
            </a:r>
          </a:p>
          <a:p>
            <a:r>
              <a:rPr lang="en-US" sz="1800" dirty="0" err="1">
                <a:ea typeface="+mn-lt"/>
                <a:cs typeface="+mn-lt"/>
              </a:rPr>
              <a:t>Структура</a:t>
            </a:r>
            <a:r>
              <a:rPr lang="en-US" sz="1800" dirty="0">
                <a:ea typeface="+mn-lt"/>
                <a:cs typeface="+mn-lt"/>
              </a:rPr>
              <a:t> web-</a:t>
            </a:r>
            <a:r>
              <a:rPr lang="en-US" sz="1800" dirty="0" err="1">
                <a:ea typeface="+mn-lt"/>
                <a:cs typeface="+mn-lt"/>
              </a:rPr>
              <a:t>страниц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r>
              <a:rPr lang="en-US" sz="1800" dirty="0" err="1">
                <a:ea typeface="+mn-lt"/>
                <a:cs typeface="+mn-lt"/>
              </a:rPr>
              <a:t>Текст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кнопки</a:t>
            </a:r>
            <a:r>
              <a:rPr lang="en-US" sz="1800" dirty="0">
                <a:ea typeface="+mn-lt"/>
                <a:cs typeface="+mn-lt"/>
              </a:rPr>
              <a:t> и </a:t>
            </a:r>
            <a:r>
              <a:rPr lang="en-US" sz="1800" dirty="0" err="1">
                <a:ea typeface="+mn-lt"/>
                <a:cs typeface="+mn-lt"/>
              </a:rPr>
              <a:t>блоки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2000" b="1" i="1" dirty="0"/>
              <a:t>CSS</a:t>
            </a:r>
          </a:p>
          <a:p>
            <a:r>
              <a:rPr lang="en-US" sz="1800" dirty="0" err="1">
                <a:ea typeface="+mn-lt"/>
                <a:cs typeface="+mn-lt"/>
              </a:rPr>
              <a:t>Оформление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интерфейса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Адаптивный </a:t>
            </a:r>
            <a:r>
              <a:rPr lang="en-US" sz="1800" dirty="0" err="1">
                <a:ea typeface="+mn-lt"/>
                <a:cs typeface="+mn-lt"/>
              </a:rPr>
              <a:t>дизайн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r>
              <a:rPr lang="en-US" sz="1800" dirty="0" err="1">
                <a:ea typeface="+mn-lt"/>
                <a:cs typeface="+mn-lt"/>
              </a:rPr>
              <a:t>Анимации</a:t>
            </a:r>
            <a:r>
              <a:rPr lang="en-US" sz="1800" dirty="0">
                <a:ea typeface="+mn-lt"/>
                <a:cs typeface="+mn-lt"/>
              </a:rPr>
              <a:t> и </a:t>
            </a:r>
            <a:r>
              <a:rPr lang="en-US" sz="1800" dirty="0" err="1">
                <a:ea typeface="+mn-lt"/>
                <a:cs typeface="+mn-lt"/>
              </a:rPr>
              <a:t>эффекты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2000" b="1" i="1" dirty="0"/>
              <a:t>JavaScript</a:t>
            </a:r>
          </a:p>
          <a:p>
            <a:r>
              <a:rPr lang="en-US" sz="1800" dirty="0" err="1">
                <a:ea typeface="+mn-lt"/>
                <a:cs typeface="+mn-lt"/>
              </a:rPr>
              <a:t>Проверка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ответов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r>
              <a:rPr lang="en-US" sz="1800" dirty="0" err="1">
                <a:ea typeface="+mn-lt"/>
                <a:cs typeface="+mn-lt"/>
              </a:rPr>
              <a:t>Подсчёт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результатов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Progress bar </a:t>
            </a:r>
            <a:endParaRPr lang="en-US" sz="1800" dirty="0"/>
          </a:p>
          <a:p>
            <a:r>
              <a:rPr lang="en-US" sz="1800" dirty="0" err="1">
                <a:ea typeface="+mn-lt"/>
                <a:cs typeface="+mn-lt"/>
              </a:rPr>
              <a:t>Интерактивность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сайта</a:t>
            </a:r>
            <a:endParaRPr lang="en-US" sz="1800" dirty="0" err="1"/>
          </a:p>
          <a:p>
            <a:endParaRPr lang="en-US" sz="2000" dirty="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5" name="Рисунок 4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35DF5C6-081A-0CCB-E2FD-FF1240B47D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96" r="3067" b="2"/>
          <a:stretch>
            <a:fillRect/>
          </a:stretch>
        </p:blipFill>
        <p:spPr>
          <a:xfrm>
            <a:off x="550862" y="3518725"/>
            <a:ext cx="5256000" cy="2790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3802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6">
            <a:extLst>
              <a:ext uri="{FF2B5EF4-FFF2-40B4-BE49-F238E27FC236}">
                <a16:creationId xmlns:a16="http://schemas.microsoft.com/office/drawing/2014/main" id="{153860BD-2B77-4099-8348-E7AB857CD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D22B6-43DD-D922-1836-56790CE0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3930305"/>
            <a:ext cx="3861960" cy="2437244"/>
          </a:xfrm>
        </p:spPr>
        <p:txBody>
          <a:bodyPr anchor="ctr">
            <a:normAutofit/>
          </a:bodyPr>
          <a:lstStyle/>
          <a:p>
            <a:r>
              <a:rPr lang="ru-RU" sz="4000" b="1">
                <a:ea typeface="+mj-lt"/>
                <a:cs typeface="+mj-lt"/>
              </a:rPr>
              <a:t>Структура и функционал системы</a:t>
            </a:r>
            <a:endParaRPr lang="ru-RU" sz="4000" b="1"/>
          </a:p>
        </p:txBody>
      </p:sp>
      <p:sp>
        <p:nvSpPr>
          <p:cNvPr id="36" name="Rectangle 28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35578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D2A996-D85A-A676-295C-FA805694C2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97" r="26810" b="3"/>
          <a:stretch>
            <a:fillRect/>
          </a:stretch>
        </p:blipFill>
        <p:spPr>
          <a:xfrm>
            <a:off x="778779" y="380770"/>
            <a:ext cx="2507107" cy="2811320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Рисунок 5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6A777F-4D2C-69F3-4F34-BAEC1F0C9E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49" r="26101" b="1"/>
          <a:stretch>
            <a:fillRect/>
          </a:stretch>
        </p:blipFill>
        <p:spPr>
          <a:xfrm>
            <a:off x="3544829" y="380769"/>
            <a:ext cx="2507982" cy="2811320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программное обеспечение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9C19653-BF2B-633B-A845-2363012A33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503" r="26883" b="-2"/>
          <a:stretch>
            <a:fillRect/>
          </a:stretch>
        </p:blipFill>
        <p:spPr>
          <a:xfrm>
            <a:off x="6259368" y="380769"/>
            <a:ext cx="2507982" cy="281132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9ABC8BB-7546-C3A6-69A1-5C464FD14A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031" r="25542" b="1"/>
          <a:stretch>
            <a:fillRect/>
          </a:stretch>
        </p:blipFill>
        <p:spPr>
          <a:xfrm>
            <a:off x="8973905" y="380770"/>
            <a:ext cx="2515016" cy="2811320"/>
          </a:xfrm>
          <a:prstGeom prst="rect">
            <a:avLst/>
          </a:prstGeom>
        </p:spPr>
      </p:pic>
      <p:sp>
        <p:nvSpPr>
          <p:cNvPr id="38" name="Rectangle 32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635346" y="5126067"/>
            <a:ext cx="219456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AB62A2-5649-2207-1745-712558717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3930305"/>
            <a:ext cx="6586915" cy="243724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Система </a:t>
            </a:r>
            <a:r>
              <a:rPr lang="en-US" sz="2000" dirty="0" err="1">
                <a:ea typeface="+mn-lt"/>
                <a:cs typeface="+mn-lt"/>
              </a:rPr>
              <a:t>состоит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из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нескольких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страниц</a:t>
            </a:r>
            <a:r>
              <a:rPr lang="en-US" sz="2000" dirty="0">
                <a:ea typeface="+mn-lt"/>
                <a:cs typeface="+mn-lt"/>
              </a:rPr>
              <a:t>: </a:t>
            </a:r>
            <a:r>
              <a:rPr lang="en-US" sz="2000" dirty="0" err="1">
                <a:ea typeface="+mn-lt"/>
                <a:cs typeface="+mn-lt"/>
              </a:rPr>
              <a:t>главная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категории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тесты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прохождение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теста</a:t>
            </a:r>
            <a:r>
              <a:rPr lang="en-US" sz="2000" dirty="0">
                <a:ea typeface="+mn-lt"/>
                <a:cs typeface="+mn-lt"/>
              </a:rPr>
              <a:t> и </a:t>
            </a:r>
            <a:r>
              <a:rPr lang="en-US" sz="2000" dirty="0" err="1">
                <a:ea typeface="+mn-lt"/>
                <a:cs typeface="+mn-lt"/>
              </a:rPr>
              <a:t>результаты</a:t>
            </a:r>
            <a:r>
              <a:rPr lang="en-US" sz="2000" dirty="0">
                <a:ea typeface="+mn-lt"/>
                <a:cs typeface="+mn-lt"/>
              </a:rPr>
              <a:t>. Пользователь </a:t>
            </a:r>
            <a:r>
              <a:rPr lang="en-US" sz="2000" dirty="0" err="1">
                <a:ea typeface="+mn-lt"/>
                <a:cs typeface="+mn-lt"/>
              </a:rPr>
              <a:t>может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выбрать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предмет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пройти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тест</a:t>
            </a:r>
            <a:r>
              <a:rPr lang="en-US" sz="2000" dirty="0">
                <a:ea typeface="+mn-lt"/>
                <a:cs typeface="+mn-lt"/>
              </a:rPr>
              <a:t> и </a:t>
            </a:r>
            <a:r>
              <a:rPr lang="en-US" sz="2000" dirty="0" err="1">
                <a:ea typeface="+mn-lt"/>
                <a:cs typeface="+mn-lt"/>
              </a:rPr>
              <a:t>получить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автоматический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результат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7842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A12067D-EF15-4E9F-AA63-B337CED75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96BA99-464E-4E7D-BA40-1DC3C7969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33425"/>
            <a:ext cx="12192002" cy="33975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6E69711-E747-42F0-9063-950BA7BAE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360280" y="-1973720"/>
            <a:ext cx="5486400" cy="1217704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65FE63-3B6B-9C94-D7D6-C97928C12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789400"/>
            <a:ext cx="3499164" cy="2264392"/>
          </a:xfrm>
        </p:spPr>
        <p:txBody>
          <a:bodyPr anchor="ctr">
            <a:normAutofit/>
          </a:bodyPr>
          <a:lstStyle/>
          <a:p>
            <a:r>
              <a:rPr lang="ru-RU" sz="4800" b="1">
                <a:ea typeface="+mj-lt"/>
                <a:cs typeface="+mj-lt"/>
              </a:rPr>
              <a:t>Результаты разработки</a:t>
            </a:r>
            <a:endParaRPr lang="ru-RU" sz="4800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9ADDA2-1E13-726A-5AEC-115F37EE7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82" y="379619"/>
            <a:ext cx="4003014" cy="2530252"/>
          </a:xfrm>
          <a:prstGeom prst="rect">
            <a:avLst/>
          </a:prstGeom>
        </p:spPr>
      </p:pic>
      <p:pic>
        <p:nvPicPr>
          <p:cNvPr id="4" name="Объект 3" descr="Изображение выглядит как текст, снимок экрана, программное обеспечение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8D60255-A2B8-C680-18BE-B1B293CAAB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247" y="376382"/>
            <a:ext cx="3776630" cy="2536725"/>
          </a:xfrm>
          <a:prstGeom prst="rect">
            <a:avLst/>
          </a:prstGeom>
        </p:spPr>
      </p:pic>
      <p:pic>
        <p:nvPicPr>
          <p:cNvPr id="6" name="Рисунок 5" descr="Изображение выглядит как снимок экрана, текст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907A88C-482F-EB8B-6E55-7BC8F51DFD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057" y="382270"/>
            <a:ext cx="3518898" cy="2524951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7EF1E6-8D11-577E-7307-7D7CA51DA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601" y="3789399"/>
            <a:ext cx="6243982" cy="238280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В </a:t>
            </a:r>
            <a:r>
              <a:rPr lang="en-US" sz="2000" dirty="0" err="1">
                <a:ea typeface="+mn-lt"/>
                <a:cs typeface="+mn-lt"/>
              </a:rPr>
              <a:t>результате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работы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была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разработана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современная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онлайн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тестовая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система</a:t>
            </a:r>
            <a:r>
              <a:rPr lang="en-US" sz="2000" dirty="0">
                <a:ea typeface="+mn-lt"/>
                <a:cs typeface="+mn-lt"/>
              </a:rPr>
              <a:t> с </a:t>
            </a:r>
            <a:r>
              <a:rPr lang="en-US" sz="2000" dirty="0" err="1">
                <a:ea typeface="+mn-lt"/>
                <a:cs typeface="+mn-lt"/>
              </a:rPr>
              <a:t>удобным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интерфейсом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системой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тестирования</a:t>
            </a:r>
            <a:r>
              <a:rPr lang="en-US" sz="2000" dirty="0">
                <a:ea typeface="+mn-lt"/>
                <a:cs typeface="+mn-lt"/>
              </a:rPr>
              <a:t> и </a:t>
            </a:r>
            <a:r>
              <a:rPr lang="en-US" sz="2000" dirty="0" err="1">
                <a:ea typeface="+mn-lt"/>
                <a:cs typeface="+mn-lt"/>
              </a:rPr>
              <a:t>автоматической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проверкой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результатов</a:t>
            </a:r>
            <a:r>
              <a:rPr lang="en-US" sz="2000" dirty="0">
                <a:ea typeface="+mn-lt"/>
                <a:cs typeface="+mn-lt"/>
              </a:rPr>
              <a:t>. Сайт </a:t>
            </a:r>
            <a:r>
              <a:rPr lang="en-US" sz="2000" dirty="0" err="1">
                <a:ea typeface="+mn-lt"/>
                <a:cs typeface="+mn-lt"/>
              </a:rPr>
              <a:t>работает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через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браузер</a:t>
            </a:r>
            <a:r>
              <a:rPr lang="en-US" sz="2000" dirty="0">
                <a:ea typeface="+mn-lt"/>
                <a:cs typeface="+mn-lt"/>
              </a:rPr>
              <a:t> и </a:t>
            </a:r>
            <a:r>
              <a:rPr lang="en-US" sz="2000" dirty="0" err="1">
                <a:ea typeface="+mn-lt"/>
                <a:cs typeface="+mn-lt"/>
              </a:rPr>
              <a:t>адаптирован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для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разных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устройств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ru-RU" sz="2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79AADB-A05D-428E-A1F8-99F0910EE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73128" y="6172201"/>
            <a:ext cx="118872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2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D24BC9E-AC6A-42EE-AFD8-B290720B8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107624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B8982-E006-CC60-BBBE-A3EE87405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29321"/>
            <a:ext cx="3657600" cy="1645920"/>
          </a:xfrm>
        </p:spPr>
        <p:txBody>
          <a:bodyPr>
            <a:normAutofit/>
          </a:bodyPr>
          <a:lstStyle/>
          <a:p>
            <a:r>
              <a:rPr lang="ru-RU" sz="4000" b="1">
                <a:ea typeface="+mj-lt"/>
                <a:cs typeface="+mj-lt"/>
              </a:rPr>
              <a:t>Заключение</a:t>
            </a:r>
            <a:endParaRPr lang="ru-RU" sz="4000" b="1"/>
          </a:p>
        </p:txBody>
      </p:sp>
      <p:pic>
        <p:nvPicPr>
          <p:cNvPr id="4" name="Объект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DF4CA3-F058-346D-92D5-AF73631BE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" y="619539"/>
            <a:ext cx="5528153" cy="3093865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D6DBA49-B730-A650-1CE1-3D6350DDA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134" y="618253"/>
            <a:ext cx="5564729" cy="307668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80023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143137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08D7C1C-14FF-76A6-F867-228F19F03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4329321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В </a:t>
            </a:r>
            <a:r>
              <a:rPr lang="en-US" sz="2000" err="1">
                <a:ea typeface="+mn-lt"/>
                <a:cs typeface="+mn-lt"/>
              </a:rPr>
              <a:t>ходе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курсовой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работы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была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разработана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онлайн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тестовая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система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MathTest</a:t>
            </a:r>
            <a:r>
              <a:rPr lang="en-US" sz="2000">
                <a:ea typeface="+mn-lt"/>
                <a:cs typeface="+mn-lt"/>
              </a:rPr>
              <a:t>. Проект </a:t>
            </a:r>
            <a:r>
              <a:rPr lang="en-US" sz="2000" err="1">
                <a:ea typeface="+mn-lt"/>
                <a:cs typeface="+mn-lt"/>
              </a:rPr>
              <a:t>позволил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изучить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современные</a:t>
            </a:r>
            <a:r>
              <a:rPr lang="en-US" sz="2000">
                <a:ea typeface="+mn-lt"/>
                <a:cs typeface="+mn-lt"/>
              </a:rPr>
              <a:t> web-</a:t>
            </a:r>
            <a:r>
              <a:rPr lang="en-US" sz="2000" err="1">
                <a:ea typeface="+mn-lt"/>
                <a:cs typeface="+mn-lt"/>
              </a:rPr>
              <a:t>технологии</a:t>
            </a:r>
            <a:r>
              <a:rPr lang="en-US" sz="2000">
                <a:ea typeface="+mn-lt"/>
                <a:cs typeface="+mn-lt"/>
              </a:rPr>
              <a:t> и </a:t>
            </a:r>
            <a:r>
              <a:rPr lang="en-US" sz="2000" err="1">
                <a:ea typeface="+mn-lt"/>
                <a:cs typeface="+mn-lt"/>
              </a:rPr>
              <a:t>получить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практические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навыки</a:t>
            </a:r>
            <a:r>
              <a:rPr lang="en-US" sz="2000">
                <a:ea typeface="+mn-lt"/>
                <a:cs typeface="+mn-lt"/>
              </a:rPr>
              <a:t> frontend-</a:t>
            </a:r>
            <a:r>
              <a:rPr lang="en-US" sz="2000" err="1">
                <a:ea typeface="+mn-lt"/>
                <a:cs typeface="+mn-lt"/>
              </a:rPr>
              <a:t>разработки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4805455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182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Times New Roman</vt:lpstr>
      <vt:lpstr>Trebuchet MS</vt:lpstr>
      <vt:lpstr>Тема Office</vt:lpstr>
      <vt:lpstr>PowerPoint Presentation</vt:lpstr>
      <vt:lpstr>Цель и задачи проекта</vt:lpstr>
      <vt:lpstr>Используемые технологии</vt:lpstr>
      <vt:lpstr>Структура и функционал системы</vt:lpstr>
      <vt:lpstr>Результаты разработки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Farkhad</dc:creator>
  <cp:lastModifiedBy>Farkhad Farzana</cp:lastModifiedBy>
  <cp:revision>115</cp:revision>
  <dcterms:created xsi:type="dcterms:W3CDTF">2026-05-11T17:24:33Z</dcterms:created>
  <dcterms:modified xsi:type="dcterms:W3CDTF">2026-05-11T18:02:57Z</dcterms:modified>
</cp:coreProperties>
</file>